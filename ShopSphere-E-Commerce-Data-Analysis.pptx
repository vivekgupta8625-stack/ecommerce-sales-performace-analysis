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erif Black"/>
      <p:regular r:id="rId201314"/>
    </p:embeddedFont>
    <p:embeddedFont>
      <p:font typeface="Noto Serif"/>
      <p:regular r:id="rId201315"/>
    </p:embeddedFont>
    <p:embeddedFont>
      <p:font typeface="Noto Serif SemiBold"/>
      <p:regular r:id="rId201316"/>
    </p:embeddedFont>
    <p:embeddedFont>
      <p:font typeface="Noto Serif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83835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ShopSphere E-Commerce Data Analysis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8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Objectives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92" y="1731466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6499" y="1725613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Sales &amp; Profitability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646499" y="2209899"/>
            <a:ext cx="28899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Measure revenue, AOV, margin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092" y="2896195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46499" y="2890341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Monthly Trends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646499" y="3374628"/>
            <a:ext cx="28899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Compare 2024 vs 2025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3092" y="4060924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46499" y="4055070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Category Performance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8646499" y="4539357"/>
            <a:ext cx="28899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Identify top contributors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03092" y="5225653"/>
            <a:ext cx="283461" cy="2834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46499" y="5219799"/>
            <a:ext cx="28899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 Dashboard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8646499" y="5704086"/>
            <a:ext cx="28899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Management-ready visuals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2330"/>
            <a:ext cx="6296860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33360" y="1198364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200K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233360" y="1802209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Rows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3360" y="2080220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33360" y="2545953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24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233360" y="3149798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33360" y="3427809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Fields per record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33360" y="3893542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49K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233360" y="4497388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233360" y="4775398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Unique Customer_IDs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33360" y="5241131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500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233360" y="5844977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Products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233360" y="6122988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Unique Product_IDs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 Quality: Clean &amp; Validated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661475" y="3072011"/>
            <a:ext cx="2632604" cy="521791"/>
          </a:xfrm>
          <a:prstGeom prst="roundRect">
            <a:avLst>
              <a:gd name="adj" fmla="val 2802"/>
            </a:avLst>
          </a:prstGeom>
          <a:solidFill>
            <a:srgbClr val="5F5153"/>
          </a:solidFill>
          <a:ln/>
        </p:spPr>
      </p:sp>
      <p:sp>
        <p:nvSpPr>
          <p:cNvPr id="4" name="Text 2"/>
          <p:cNvSpPr/>
          <p:nvPr/>
        </p:nvSpPr>
        <p:spPr>
          <a:xfrm>
            <a:off x="758905" y="3169444"/>
            <a:ext cx="2437744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Missing Values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58905" y="3378299"/>
            <a:ext cx="24377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Zero across all 24 columns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344283" y="3072011"/>
            <a:ext cx="2632704" cy="521791"/>
          </a:xfrm>
          <a:prstGeom prst="roundRect">
            <a:avLst>
              <a:gd name="adj" fmla="val 2802"/>
            </a:avLst>
          </a:prstGeom>
          <a:solidFill>
            <a:srgbClr val="5F5153"/>
          </a:solidFill>
          <a:ln/>
        </p:spPr>
      </p:sp>
      <p:sp>
        <p:nvSpPr>
          <p:cNvPr id="7" name="Text 5"/>
          <p:cNvSpPr/>
          <p:nvPr/>
        </p:nvSpPr>
        <p:spPr>
          <a:xfrm>
            <a:off x="3441713" y="3169444"/>
            <a:ext cx="2437843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Duplicate Rows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41713" y="3378299"/>
            <a:ext cx="243784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None found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61475" y="3644007"/>
            <a:ext cx="2632604" cy="521791"/>
          </a:xfrm>
          <a:prstGeom prst="roundRect">
            <a:avLst>
              <a:gd name="adj" fmla="val 2802"/>
            </a:avLst>
          </a:prstGeom>
          <a:solidFill>
            <a:srgbClr val="5F5153"/>
          </a:solidFill>
          <a:ln/>
        </p:spPr>
      </p:sp>
      <p:sp>
        <p:nvSpPr>
          <p:cNvPr id="10" name="Text 8"/>
          <p:cNvSpPr/>
          <p:nvPr/>
        </p:nvSpPr>
        <p:spPr>
          <a:xfrm>
            <a:off x="758905" y="3741440"/>
            <a:ext cx="2437744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Unique Order_IDs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8905" y="3950295"/>
            <a:ext cx="24377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200,000 — all distinct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44283" y="3644007"/>
            <a:ext cx="2632704" cy="521791"/>
          </a:xfrm>
          <a:prstGeom prst="roundRect">
            <a:avLst>
              <a:gd name="adj" fmla="val 2802"/>
            </a:avLst>
          </a:prstGeom>
          <a:solidFill>
            <a:srgbClr val="5F5153"/>
          </a:solidFill>
          <a:ln/>
        </p:spPr>
      </p:sp>
      <p:sp>
        <p:nvSpPr>
          <p:cNvPr id="13" name="Text 11"/>
          <p:cNvSpPr/>
          <p:nvPr/>
        </p:nvSpPr>
        <p:spPr>
          <a:xfrm>
            <a:off x="3441713" y="3741440"/>
            <a:ext cx="2437843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Financial Checks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41713" y="3950295"/>
            <a:ext cx="243784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Revenue &amp; Profit validated</a:t>
            </a:r>
            <a:endParaRPr lang="en-US" sz="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Customer Repeat Behavior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45,377 customers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placed more than one order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Only 3,677 customers ordered once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Max orders by one customer: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14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Strong foundation for retention &amp; loyalty analysis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570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 Data Modeling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531170"/>
            <a:ext cx="3053877" cy="1391543"/>
          </a:xfrm>
          <a:prstGeom prst="roundRect">
            <a:avLst>
              <a:gd name="adj" fmla="val 2038"/>
            </a:avLst>
          </a:prstGeom>
          <a:solidFill>
            <a:srgbClr val="5F5153"/>
          </a:solidFill>
          <a:ln/>
        </p:spPr>
      </p:sp>
      <p:sp>
        <p:nvSpPr>
          <p:cNvPr id="5" name="Text 2"/>
          <p:cNvSpPr/>
          <p:nvPr/>
        </p:nvSpPr>
        <p:spPr>
          <a:xfrm>
            <a:off x="5422367" y="2720181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DateTable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2367" y="3128863"/>
            <a:ext cx="2675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Date, Month, Year, Year-Month fields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531170"/>
            <a:ext cx="3053976" cy="1391543"/>
          </a:xfrm>
          <a:prstGeom prst="roundRect">
            <a:avLst>
              <a:gd name="adj" fmla="val 2038"/>
            </a:avLst>
          </a:prstGeom>
          <a:solidFill>
            <a:srgbClr val="5F5153"/>
          </a:solidFill>
          <a:ln/>
        </p:spPr>
      </p:sp>
      <p:sp>
        <p:nvSpPr>
          <p:cNvPr id="8" name="Text 5"/>
          <p:cNvSpPr/>
          <p:nvPr/>
        </p:nvSpPr>
        <p:spPr>
          <a:xfrm>
            <a:off x="8665251" y="2720181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Measures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65251" y="3128863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Total Sales, Orders, AOV, Customers, Profit, Margin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111724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5F5153"/>
          </a:solidFill>
          <a:ln/>
        </p:spPr>
      </p:sp>
      <p:sp>
        <p:nvSpPr>
          <p:cNvPr id="11" name="Text 8"/>
          <p:cNvSpPr/>
          <p:nvPr/>
        </p:nvSpPr>
        <p:spPr>
          <a:xfrm>
            <a:off x="5422367" y="4300736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Two Pages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2367" y="4709418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Executive Dashboard + Sales Performance Analysis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Executive Dashboard — Key KPIs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56766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4.11B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661475" y="1351260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125315" y="956766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1.23B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125315" y="1351260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Profit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1475" y="1640582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200K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661475" y="2035076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Orders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5315" y="1640582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49K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6125315" y="2035076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1475" y="2324398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20.55K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661475" y="2718891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AOV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5315" y="2324398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30%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6125315" y="2718891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Margin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19611"/>
            <a:ext cx="10868745" cy="60865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Sales Performance — 2024 vs 2025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10868745" cy="6086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4919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Sales fluctuate between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153M–180M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monthly. 2025 Dec peaks at 178M; Feb 2025 shows the lowest point at 153M.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8382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Business Insights</a:t>
            </a:r>
            <a:endParaRPr lang="en-US" sz="3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386582"/>
            <a:ext cx="6296860" cy="10977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3411" y="159504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Strong Repeat Base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543411" y="198745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45K customers with &gt;1 order — retention opportunity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661642"/>
            <a:ext cx="6296860" cy="10977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3411" y="287010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Electronics Dominates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543411" y="326251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2.83B — ~69% of total category sales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936702"/>
            <a:ext cx="6296860" cy="10977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43411" y="414516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Healthy Margin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543411" y="453757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30% overall profit margin on 4.11B sales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211762"/>
            <a:ext cx="6296860" cy="10977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43411" y="542022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Monthly Volatility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5543411" y="581263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Monitor dips — don't rely on annual totals alone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Recommendations &amp; Workflow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265261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Recommendations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2861370"/>
            <a:ext cx="219268" cy="219273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5" name="Text 3"/>
          <p:cNvSpPr/>
          <p:nvPr/>
        </p:nvSpPr>
        <p:spPr>
          <a:xfrm>
            <a:off x="698036" y="2879675"/>
            <a:ext cx="146146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30946" y="2894806"/>
            <a:ext cx="504604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Protect Electronics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0946" y="3097312"/>
            <a:ext cx="504604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Defend leading category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61475" y="3315891"/>
            <a:ext cx="219268" cy="219273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9" name="Text 7"/>
          <p:cNvSpPr/>
          <p:nvPr/>
        </p:nvSpPr>
        <p:spPr>
          <a:xfrm>
            <a:off x="698036" y="3334196"/>
            <a:ext cx="146146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30946" y="3349327"/>
            <a:ext cx="504604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Grow Home &amp; Kitchen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30946" y="3551833"/>
            <a:ext cx="504604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Close the gap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61475" y="3770412"/>
            <a:ext cx="219268" cy="219273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13" name="Text 11"/>
          <p:cNvSpPr/>
          <p:nvPr/>
        </p:nvSpPr>
        <p:spPr>
          <a:xfrm>
            <a:off x="698036" y="3788718"/>
            <a:ext cx="146146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0946" y="3803848"/>
            <a:ext cx="504604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Build Loyalty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30946" y="4006354"/>
            <a:ext cx="504604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Personalized repeat offers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1475" y="4224933"/>
            <a:ext cx="219268" cy="219273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17" name="Text 15"/>
          <p:cNvSpPr/>
          <p:nvPr/>
        </p:nvSpPr>
        <p:spPr>
          <a:xfrm>
            <a:off x="698036" y="4243239"/>
            <a:ext cx="146146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0946" y="4258370"/>
            <a:ext cx="504604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Validate on Refresh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0946" y="4460875"/>
            <a:ext cx="504604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Repeat checks each load</a:t>
            </a:r>
            <a:endParaRPr lang="en-US" sz="7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2026-09-10T14:07:47Z</dcterms:created>
  <dcterms:modified xsi:type="dcterms:W3CDTF">2026-09-10T14:07:47Z</dcterms:modified>
</cp:coreProperties>
</file>